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56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D081F-8728-E702-3764-D1CAA4CE9C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DEB2C1-9DD8-DA4E-109E-7C3DB2D4C8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08A2EF-2DBE-06FF-0E47-2ED4FC6F5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21FF9-7B77-452B-B709-A9C5A36D2462}" type="datetimeFigureOut">
              <a:rPr lang="en-US" smtClean="0"/>
              <a:t>5/11/2023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6F4AF3-B260-4C09-448C-743986B27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423F3-D1B2-DCE4-938B-AF84AAC08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0BEC7-FA8D-4ECB-9ECA-860892284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891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E1738-A517-35A4-DECF-7AE9ADD3C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E092BE-D702-115A-8F5F-162DE39E83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9736C9-AC6F-4C09-3BA9-E9D54137F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21FF9-7B77-452B-B709-A9C5A36D2462}" type="datetimeFigureOut">
              <a:rPr lang="en-US" smtClean="0"/>
              <a:t>5/11/2023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B841D3-4743-C3D2-1E29-CBD6D80CC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9D830B-9368-0AD3-0A44-157C514CC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0BEC7-FA8D-4ECB-9ECA-860892284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652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E8AD8-3E63-D5F1-DF45-5D03E1F62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F40635-B248-BA17-4630-0575259F04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1B1102-4BD3-930A-7004-0BB30F95B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21FF9-7B77-452B-B709-A9C5A36D2462}" type="datetimeFigureOut">
              <a:rPr lang="en-US" smtClean="0"/>
              <a:t>5/11/2023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B23C1-C9BC-241B-9C26-492547E5A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107827-7AC6-6EDB-891D-E37C2F88E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0BEC7-FA8D-4ECB-9ECA-860892284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373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4C432-CB55-65AF-4CC3-172DAE7C4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AB2D99-2CB1-B3DA-A987-AEC32AA2DE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3AB073-668F-3EC6-3B97-A35E3CBAFF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228348-7F09-6B5B-0A83-B985082C5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21FF9-7B77-452B-B709-A9C5A36D2462}" type="datetimeFigureOut">
              <a:rPr lang="en-US" smtClean="0"/>
              <a:t>5/11/2023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1DEE72-EF43-08AD-4298-077B040BA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9F86EA-F3FE-B483-8490-A8D4FA5FF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0BEC7-FA8D-4ECB-9ECA-860892284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1694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9652B-FE31-03BA-461A-135C251FB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4A6F46-EE67-B592-98C4-313D7EA497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E99A22-389F-EEDE-0257-3A382C44E3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03ECE4-CEAF-85B0-90F1-A255511F69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7D0D2F-74CB-E6B9-91DC-6ECA41DE10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EFA6CE-109D-B624-8B45-B3F464D7F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21FF9-7B77-452B-B709-A9C5A36D2462}" type="datetimeFigureOut">
              <a:rPr lang="en-US" smtClean="0"/>
              <a:t>5/11/2023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23A56A-98CB-2195-473E-5A217D19D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F3B776-F2DE-90BD-8C1F-580519A83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0BEC7-FA8D-4ECB-9ECA-860892284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288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EB94C-7558-C23C-5BB6-F889605FC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D50715-861E-243C-8E11-12D64E5BF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21FF9-7B77-452B-B709-A9C5A36D2462}" type="datetimeFigureOut">
              <a:rPr lang="en-US" smtClean="0"/>
              <a:t>5/11/2023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D35FEA-42A8-AD24-3591-56668D85C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5B570D-147D-9B01-C894-0FAE6BBDA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0BEC7-FA8D-4ECB-9ECA-860892284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511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9E312B-6BA0-B9CB-3299-C77F8F8C1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21FF9-7B77-452B-B709-A9C5A36D2462}" type="datetimeFigureOut">
              <a:rPr lang="en-US" smtClean="0"/>
              <a:t>5/11/2023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8F73A1-D08B-67FB-80D9-EEC90FE19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7FA44D-2346-3151-6AB1-EEBB2D777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0BEC7-FA8D-4ECB-9ECA-860892284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470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AECF1-CB3C-669A-698A-415C3761D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96FF95-A7FB-9903-C90F-4EE1A5B4D1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3DABE9-5D99-8486-58C2-A54AC675C7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91F0F-CFF3-25EF-67B9-7E95A7486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21FF9-7B77-452B-B709-A9C5A36D2462}" type="datetimeFigureOut">
              <a:rPr lang="en-US" smtClean="0"/>
              <a:t>5/11/2023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A331CD-2F33-18A9-17D8-F96E98973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297F5A-38EC-C01B-89AE-16C75102E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0BEC7-FA8D-4ECB-9ECA-860892284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799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EA53C-D0F9-ECE1-FB42-C096B7EF5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643498-A0C7-6F73-196F-71D3AD68A6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E1CA3F-1477-7D7D-6439-C534177C74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7488E6-FC9A-66B2-FD80-D6FFE544F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21FF9-7B77-452B-B709-A9C5A36D2462}" type="datetimeFigureOut">
              <a:rPr lang="en-US" smtClean="0"/>
              <a:t>5/11/2023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77B9D6-8F1F-4856-A31E-800FB9269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06B28D-8055-2DE3-C043-FD41105B7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0BEC7-FA8D-4ECB-9ECA-860892284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592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1E018-538A-3009-A3D8-DDFF5C43E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278F02-1A0F-C103-D53C-54720B0C88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2C0924-703B-872F-4ADE-6A5D9CA48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21FF9-7B77-452B-B709-A9C5A36D2462}" type="datetimeFigureOut">
              <a:rPr lang="en-US" smtClean="0"/>
              <a:t>5/11/2023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C1B97F-4986-030B-D436-40D26F3FE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E96C76-82FB-750E-79A1-CD24FDB7B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0BEC7-FA8D-4ECB-9ECA-860892284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3632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F781FF-993D-046F-BBEC-38A96231D1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E67E40-56F7-1824-1CAD-CD0438D76C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033381-B529-BF2D-1ACE-9C7B419E6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21FF9-7B77-452B-B709-A9C5A36D2462}" type="datetimeFigureOut">
              <a:rPr lang="en-US" smtClean="0"/>
              <a:t>5/11/2023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67363E-E9F7-C757-73F4-C5DCDE6FF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160E7C-F403-2219-5368-489DE13E4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0BEC7-FA8D-4ECB-9ECA-860892284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383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AC4462-DB22-9812-EE98-17A392C75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28C009-070F-217F-A154-029E0E0EDB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2BE82B-6B08-F4F5-0443-C778C09337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B21FF9-7B77-452B-B709-A9C5A36D2462}" type="datetimeFigureOut">
              <a:rPr lang="en-US" smtClean="0"/>
              <a:t>5/11/2023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DF356F-19A4-F4A4-93FC-17F51BE6C5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4E57ED-EBBC-D1B7-F475-F965C9750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D0BEC7-FA8D-4ECB-9ECA-860892284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256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EB04867-471F-D0B2-1F99-1E759AA54CE3}"/>
              </a:ext>
            </a:extLst>
          </p:cNvPr>
          <p:cNvSpPr txBox="1">
            <a:spLocks/>
          </p:cNvSpPr>
          <p:nvPr/>
        </p:nvSpPr>
        <p:spPr>
          <a:xfrm>
            <a:off x="0" y="102421"/>
            <a:ext cx="3948845" cy="5548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Global Nuclear Power Plant Data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EF7F462-5AB9-4889-9F83-B877DA701323}"/>
              </a:ext>
            </a:extLst>
          </p:cNvPr>
          <p:cNvCxnSpPr>
            <a:cxnSpLocks/>
          </p:cNvCxnSpPr>
          <p:nvPr/>
        </p:nvCxnSpPr>
        <p:spPr>
          <a:xfrm>
            <a:off x="136259" y="657225"/>
            <a:ext cx="11662307" cy="0"/>
          </a:xfrm>
          <a:prstGeom prst="line">
            <a:avLst/>
          </a:prstGeom>
          <a:ln w="381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9BEE21D-1A52-5ACC-1352-7E1C5C64BB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5262191"/>
              </p:ext>
            </p:extLst>
          </p:nvPr>
        </p:nvGraphicFramePr>
        <p:xfrm>
          <a:off x="582202" y="833592"/>
          <a:ext cx="5410200" cy="5046980"/>
        </p:xfrm>
        <a:graphic>
          <a:graphicData uri="http://schemas.openxmlformats.org/drawingml/2006/table">
            <a:tbl>
              <a:tblPr/>
              <a:tblGrid>
                <a:gridCol w="1536700">
                  <a:extLst>
                    <a:ext uri="{9D8B030D-6E8A-4147-A177-3AD203B41FA5}">
                      <a16:colId xmlns:a16="http://schemas.microsoft.com/office/drawing/2014/main" val="342932255"/>
                    </a:ext>
                  </a:extLst>
                </a:gridCol>
                <a:gridCol w="1384300">
                  <a:extLst>
                    <a:ext uri="{9D8B030D-6E8A-4147-A177-3AD203B41FA5}">
                      <a16:colId xmlns:a16="http://schemas.microsoft.com/office/drawing/2014/main" val="2540796177"/>
                    </a:ext>
                  </a:extLst>
                </a:gridCol>
                <a:gridCol w="1147138">
                  <a:extLst>
                    <a:ext uri="{9D8B030D-6E8A-4147-A177-3AD203B41FA5}">
                      <a16:colId xmlns:a16="http://schemas.microsoft.com/office/drawing/2014/main" val="3110395472"/>
                    </a:ext>
                  </a:extLst>
                </a:gridCol>
                <a:gridCol w="1342062">
                  <a:extLst>
                    <a:ext uri="{9D8B030D-6E8A-4147-A177-3AD203B41FA5}">
                      <a16:colId xmlns:a16="http://schemas.microsoft.com/office/drawing/2014/main" val="356202111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lvl="0" algn="ctr" fontAlgn="b"/>
                      <a:r>
                        <a:rPr lang="de-CH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Country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Count of Nuclear Plant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 Capacity (MW)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Max Capacity (MW)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787640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Argentina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745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630973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Armenia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352678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Austria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692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692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915987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Bangladesh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367091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Belarus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1109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299252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Belgium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1090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137909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Brazil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640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1350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094312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Bulgaria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440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591920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Canada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934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959221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China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1750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40273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Czech Republic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1080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375671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Finland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890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561671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France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1650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034306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Germany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1485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97434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Hungary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442510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India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295580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Iran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939336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Italy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045922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Japan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1383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67920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Kazakhstan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16173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Lithuania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1269018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F159AA8-E456-F514-84EF-EC4CDED325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7976247"/>
              </p:ext>
            </p:extLst>
          </p:nvPr>
        </p:nvGraphicFramePr>
        <p:xfrm>
          <a:off x="6224266" y="833592"/>
          <a:ext cx="5385532" cy="5046980"/>
        </p:xfrm>
        <a:graphic>
          <a:graphicData uri="http://schemas.openxmlformats.org/drawingml/2006/table">
            <a:tbl>
              <a:tblPr/>
              <a:tblGrid>
                <a:gridCol w="1635464">
                  <a:extLst>
                    <a:ext uri="{9D8B030D-6E8A-4147-A177-3AD203B41FA5}">
                      <a16:colId xmlns:a16="http://schemas.microsoft.com/office/drawing/2014/main" val="2167261690"/>
                    </a:ext>
                  </a:extLst>
                </a:gridCol>
                <a:gridCol w="1361736">
                  <a:extLst>
                    <a:ext uri="{9D8B030D-6E8A-4147-A177-3AD203B41FA5}">
                      <a16:colId xmlns:a16="http://schemas.microsoft.com/office/drawing/2014/main" val="1364935579"/>
                    </a:ext>
                  </a:extLst>
                </a:gridCol>
                <a:gridCol w="1186255">
                  <a:extLst>
                    <a:ext uri="{9D8B030D-6E8A-4147-A177-3AD203B41FA5}">
                      <a16:colId xmlns:a16="http://schemas.microsoft.com/office/drawing/2014/main" val="2852166455"/>
                    </a:ext>
                  </a:extLst>
                </a:gridCol>
                <a:gridCol w="1202077">
                  <a:extLst>
                    <a:ext uri="{9D8B030D-6E8A-4147-A177-3AD203B41FA5}">
                      <a16:colId xmlns:a16="http://schemas.microsoft.com/office/drawing/2014/main" val="3444486427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Country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Count of Nuclear Plant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 Capacity (MW)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Max Capacity (MW)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265348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Mexico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988093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Netherlands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515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57794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North Korea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619271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Pakistan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1150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179314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Philippines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621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621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675705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Poland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440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440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145558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Romania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143104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Russia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502368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Slovakia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122152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Slovenia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496600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South Africa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970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970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571177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South Korea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1455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94510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Spain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1102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171907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Sweden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1450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803517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Switzerland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1275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863374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Taiwan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926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1020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794382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Turkey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841129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Ukraine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854580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United Arab Emirates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531918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United Kingdom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1630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398221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United States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8790535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7B48EBC-4CFB-DB52-4C81-0091DC57FEC5}"/>
              </a:ext>
            </a:extLst>
          </p:cNvPr>
          <p:cNvCxnSpPr/>
          <p:nvPr/>
        </p:nvCxnSpPr>
        <p:spPr>
          <a:xfrm>
            <a:off x="582202" y="5989835"/>
            <a:ext cx="11120063" cy="0"/>
          </a:xfrm>
          <a:prstGeom prst="line">
            <a:avLst/>
          </a:prstGeom>
          <a:ln w="381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254D07A-6109-C5BB-0AC0-0305ABA2C2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4264152"/>
              </p:ext>
            </p:extLst>
          </p:nvPr>
        </p:nvGraphicFramePr>
        <p:xfrm>
          <a:off x="8685588" y="6144588"/>
          <a:ext cx="2924210" cy="490243"/>
        </p:xfrm>
        <a:graphic>
          <a:graphicData uri="http://schemas.openxmlformats.org/drawingml/2006/table">
            <a:tbl>
              <a:tblPr/>
              <a:tblGrid>
                <a:gridCol w="1787347">
                  <a:extLst>
                    <a:ext uri="{9D8B030D-6E8A-4147-A177-3AD203B41FA5}">
                      <a16:colId xmlns:a16="http://schemas.microsoft.com/office/drawing/2014/main" val="1196905557"/>
                    </a:ext>
                  </a:extLst>
                </a:gridCol>
                <a:gridCol w="1136863">
                  <a:extLst>
                    <a:ext uri="{9D8B030D-6E8A-4147-A177-3AD203B41FA5}">
                      <a16:colId xmlns:a16="http://schemas.microsoft.com/office/drawing/2014/main" val="4076677948"/>
                    </a:ext>
                  </a:extLst>
                </a:gridCol>
              </a:tblGrid>
              <a:tr h="270533">
                <a:tc>
                  <a:txBody>
                    <a:bodyPr/>
                    <a:lstStyle/>
                    <a:p>
                      <a:pPr algn="l" fontAlgn="b"/>
                      <a:r>
                        <a:rPr lang="de-CH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 of Power Plant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CH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Count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6316224"/>
                  </a:ext>
                </a:extLst>
              </a:tr>
              <a:tr h="200563">
                <a:tc>
                  <a:txBody>
                    <a:bodyPr/>
                    <a:lstStyle/>
                    <a:p>
                      <a:pPr algn="l" fontAlgn="b"/>
                      <a:r>
                        <a:rPr lang="de-CH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Nuclear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CH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771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37225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2962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EB04867-471F-D0B2-1F99-1E759AA54CE3}"/>
              </a:ext>
            </a:extLst>
          </p:cNvPr>
          <p:cNvSpPr txBox="1">
            <a:spLocks/>
          </p:cNvSpPr>
          <p:nvPr/>
        </p:nvSpPr>
        <p:spPr>
          <a:xfrm>
            <a:off x="0" y="102421"/>
            <a:ext cx="3948845" cy="5548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Global Nuclear Power Plant Data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EF7F462-5AB9-4889-9F83-B877DA701323}"/>
              </a:ext>
            </a:extLst>
          </p:cNvPr>
          <p:cNvCxnSpPr>
            <a:cxnSpLocks/>
          </p:cNvCxnSpPr>
          <p:nvPr/>
        </p:nvCxnSpPr>
        <p:spPr>
          <a:xfrm>
            <a:off x="136259" y="657225"/>
            <a:ext cx="11662307" cy="0"/>
          </a:xfrm>
          <a:prstGeom prst="line">
            <a:avLst/>
          </a:prstGeom>
          <a:ln w="381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3031882-4639-424E-62A8-1E6FDA7E1D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8591603"/>
              </p:ext>
            </p:extLst>
          </p:nvPr>
        </p:nvGraphicFramePr>
        <p:xfrm>
          <a:off x="359596" y="847960"/>
          <a:ext cx="11438969" cy="5614493"/>
        </p:xfrm>
        <a:graphic>
          <a:graphicData uri="http://schemas.openxmlformats.org/drawingml/2006/table">
            <a:tbl>
              <a:tblPr/>
              <a:tblGrid>
                <a:gridCol w="1176959">
                  <a:extLst>
                    <a:ext uri="{9D8B030D-6E8A-4147-A177-3AD203B41FA5}">
                      <a16:colId xmlns:a16="http://schemas.microsoft.com/office/drawing/2014/main" val="3862821535"/>
                    </a:ext>
                  </a:extLst>
                </a:gridCol>
                <a:gridCol w="748974">
                  <a:extLst>
                    <a:ext uri="{9D8B030D-6E8A-4147-A177-3AD203B41FA5}">
                      <a16:colId xmlns:a16="http://schemas.microsoft.com/office/drawing/2014/main" val="181111507"/>
                    </a:ext>
                  </a:extLst>
                </a:gridCol>
                <a:gridCol w="763115">
                  <a:extLst>
                    <a:ext uri="{9D8B030D-6E8A-4147-A177-3AD203B41FA5}">
                      <a16:colId xmlns:a16="http://schemas.microsoft.com/office/drawing/2014/main" val="283991342"/>
                    </a:ext>
                  </a:extLst>
                </a:gridCol>
                <a:gridCol w="834571">
                  <a:extLst>
                    <a:ext uri="{9D8B030D-6E8A-4147-A177-3AD203B41FA5}">
                      <a16:colId xmlns:a16="http://schemas.microsoft.com/office/drawing/2014/main" val="3237460099"/>
                    </a:ext>
                  </a:extLst>
                </a:gridCol>
                <a:gridCol w="866670">
                  <a:extLst>
                    <a:ext uri="{9D8B030D-6E8A-4147-A177-3AD203B41FA5}">
                      <a16:colId xmlns:a16="http://schemas.microsoft.com/office/drawing/2014/main" val="2336910731"/>
                    </a:ext>
                  </a:extLst>
                </a:gridCol>
                <a:gridCol w="759673">
                  <a:extLst>
                    <a:ext uri="{9D8B030D-6E8A-4147-A177-3AD203B41FA5}">
                      <a16:colId xmlns:a16="http://schemas.microsoft.com/office/drawing/2014/main" val="3603752979"/>
                    </a:ext>
                  </a:extLst>
                </a:gridCol>
                <a:gridCol w="823871">
                  <a:extLst>
                    <a:ext uri="{9D8B030D-6E8A-4147-A177-3AD203B41FA5}">
                      <a16:colId xmlns:a16="http://schemas.microsoft.com/office/drawing/2014/main" val="2168703576"/>
                    </a:ext>
                  </a:extLst>
                </a:gridCol>
                <a:gridCol w="877370">
                  <a:extLst>
                    <a:ext uri="{9D8B030D-6E8A-4147-A177-3AD203B41FA5}">
                      <a16:colId xmlns:a16="http://schemas.microsoft.com/office/drawing/2014/main" val="3792288402"/>
                    </a:ext>
                  </a:extLst>
                </a:gridCol>
                <a:gridCol w="620578">
                  <a:extLst>
                    <a:ext uri="{9D8B030D-6E8A-4147-A177-3AD203B41FA5}">
                      <a16:colId xmlns:a16="http://schemas.microsoft.com/office/drawing/2014/main" val="2233595127"/>
                    </a:ext>
                  </a:extLst>
                </a:gridCol>
                <a:gridCol w="460084">
                  <a:extLst>
                    <a:ext uri="{9D8B030D-6E8A-4147-A177-3AD203B41FA5}">
                      <a16:colId xmlns:a16="http://schemas.microsoft.com/office/drawing/2014/main" val="2098411674"/>
                    </a:ext>
                  </a:extLst>
                </a:gridCol>
                <a:gridCol w="888069">
                  <a:extLst>
                    <a:ext uri="{9D8B030D-6E8A-4147-A177-3AD203B41FA5}">
                      <a16:colId xmlns:a16="http://schemas.microsoft.com/office/drawing/2014/main" val="2313104420"/>
                    </a:ext>
                  </a:extLst>
                </a:gridCol>
                <a:gridCol w="981993">
                  <a:extLst>
                    <a:ext uri="{9D8B030D-6E8A-4147-A177-3AD203B41FA5}">
                      <a16:colId xmlns:a16="http://schemas.microsoft.com/office/drawing/2014/main" val="4235813128"/>
                    </a:ext>
                  </a:extLst>
                </a:gridCol>
                <a:gridCol w="791772">
                  <a:extLst>
                    <a:ext uri="{9D8B030D-6E8A-4147-A177-3AD203B41FA5}">
                      <a16:colId xmlns:a16="http://schemas.microsoft.com/office/drawing/2014/main" val="3141269240"/>
                    </a:ext>
                  </a:extLst>
                </a:gridCol>
                <a:gridCol w="845270">
                  <a:extLst>
                    <a:ext uri="{9D8B030D-6E8A-4147-A177-3AD203B41FA5}">
                      <a16:colId xmlns:a16="http://schemas.microsoft.com/office/drawing/2014/main" val="3690915527"/>
                    </a:ext>
                  </a:extLst>
                </a:gridCol>
              </a:tblGrid>
              <a:tr h="905133"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Country</a:t>
                      </a:r>
                    </a:p>
                  </a:txBody>
                  <a:tcPr marL="6103" marR="6103" marT="6103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Finished; Never Started</a:t>
                      </a:r>
                    </a:p>
                  </a:txBody>
                  <a:tcPr marL="6103" marR="6103" marT="6103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Finished;</a:t>
                      </a:r>
                    </a:p>
                    <a:p>
                      <a:pPr algn="ctr" fontAlgn="b"/>
                      <a:r>
                        <a:rPr lang="de-CH" sz="125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Never </a:t>
                      </a:r>
                    </a:p>
                    <a:p>
                      <a:pPr algn="ctr" fontAlgn="b"/>
                      <a:r>
                        <a:rPr lang="de-CH" sz="125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Started</a:t>
                      </a:r>
                    </a:p>
                  </a:txBody>
                  <a:tcPr marL="6103" marR="6103" marT="6103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Inoperable</a:t>
                      </a:r>
                    </a:p>
                  </a:txBody>
                  <a:tcPr marL="6103" marR="6103" marT="6103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Inoperable/Shut down</a:t>
                      </a:r>
                    </a:p>
                  </a:txBody>
                  <a:tcPr marL="6103" marR="6103" marT="6103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Operation Suspended</a:t>
                      </a:r>
                    </a:p>
                  </a:txBody>
                  <a:tcPr marL="6103" marR="6103" marT="6103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Operation Suspended (Restart Approved)</a:t>
                      </a:r>
                    </a:p>
                  </a:txBody>
                  <a:tcPr marL="6103" marR="6103" marT="6103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Operational</a:t>
                      </a:r>
                    </a:p>
                  </a:txBody>
                  <a:tcPr marL="6103" marR="6103" marT="6103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Planned</a:t>
                      </a:r>
                    </a:p>
                  </a:txBody>
                  <a:tcPr marL="6103" marR="6103" marT="6103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Shut Down</a:t>
                      </a:r>
                    </a:p>
                  </a:txBody>
                  <a:tcPr marL="6103" marR="6103" marT="6103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construction</a:t>
                      </a:r>
                    </a:p>
                  </a:txBody>
                  <a:tcPr marL="6103" marR="6103" marT="6103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Maintenance</a:t>
                      </a:r>
                    </a:p>
                  </a:txBody>
                  <a:tcPr marL="6103" marR="6103" marT="6103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Unfinished</a:t>
                      </a:r>
                    </a:p>
                  </a:txBody>
                  <a:tcPr marL="6103" marR="6103" marT="6103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Unfinished; Restart Planned</a:t>
                      </a:r>
                    </a:p>
                  </a:txBody>
                  <a:tcPr marL="6103" marR="6103" marT="6103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7770048"/>
                  </a:ext>
                </a:extLst>
              </a:tr>
              <a:tr h="235468"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Argentina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1640377"/>
                  </a:ext>
                </a:extLst>
              </a:tr>
              <a:tr h="235468"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Armenia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2812412"/>
                  </a:ext>
                </a:extLst>
              </a:tr>
              <a:tr h="235468"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Austria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0032446"/>
                  </a:ext>
                </a:extLst>
              </a:tr>
              <a:tr h="235468"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Bangladesh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5725556"/>
                  </a:ext>
                </a:extLst>
              </a:tr>
              <a:tr h="235468"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Belarus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7447251"/>
                  </a:ext>
                </a:extLst>
              </a:tr>
              <a:tr h="235468"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Belgium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6578071"/>
                  </a:ext>
                </a:extLst>
              </a:tr>
              <a:tr h="235468"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Brazil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5043649"/>
                  </a:ext>
                </a:extLst>
              </a:tr>
              <a:tr h="235468"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Bulgaria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1956506"/>
                  </a:ext>
                </a:extLst>
              </a:tr>
              <a:tr h="235468"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Canada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9751304"/>
                  </a:ext>
                </a:extLst>
              </a:tr>
              <a:tr h="235468"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China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44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8080902"/>
                  </a:ext>
                </a:extLst>
              </a:tr>
              <a:tr h="235468"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Czech Republic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781486"/>
                  </a:ext>
                </a:extLst>
              </a:tr>
              <a:tr h="235468"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Finland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0191035"/>
                  </a:ext>
                </a:extLst>
              </a:tr>
              <a:tr h="235468"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France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547090"/>
                  </a:ext>
                </a:extLst>
              </a:tr>
              <a:tr h="235468"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Germany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354260"/>
                  </a:ext>
                </a:extLst>
              </a:tr>
              <a:tr h="235468"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Hungary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1566634"/>
                  </a:ext>
                </a:extLst>
              </a:tr>
              <a:tr h="235468"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India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8479359"/>
                  </a:ext>
                </a:extLst>
              </a:tr>
              <a:tr h="235468"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Iran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240482"/>
                  </a:ext>
                </a:extLst>
              </a:tr>
              <a:tr h="235468"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Italy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2682120"/>
                  </a:ext>
                </a:extLst>
              </a:tr>
              <a:tr h="235468"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Japan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1444337"/>
                  </a:ext>
                </a:extLst>
              </a:tr>
              <a:tr h="235468"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Kazakhstan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103" marR="6103" marT="610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39793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00178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EB04867-471F-D0B2-1F99-1E759AA54CE3}"/>
              </a:ext>
            </a:extLst>
          </p:cNvPr>
          <p:cNvSpPr txBox="1">
            <a:spLocks/>
          </p:cNvSpPr>
          <p:nvPr/>
        </p:nvSpPr>
        <p:spPr>
          <a:xfrm>
            <a:off x="0" y="102421"/>
            <a:ext cx="3948845" cy="5548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Global Nuclear Power Plant Data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EF7F462-5AB9-4889-9F83-B877DA701323}"/>
              </a:ext>
            </a:extLst>
          </p:cNvPr>
          <p:cNvCxnSpPr>
            <a:cxnSpLocks/>
          </p:cNvCxnSpPr>
          <p:nvPr/>
        </p:nvCxnSpPr>
        <p:spPr>
          <a:xfrm>
            <a:off x="136259" y="657225"/>
            <a:ext cx="11662307" cy="0"/>
          </a:xfrm>
          <a:prstGeom prst="line">
            <a:avLst/>
          </a:prstGeom>
          <a:ln w="381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32248BC-7BC0-8DE1-45ED-E4940BFB84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2470491"/>
              </p:ext>
            </p:extLst>
          </p:nvPr>
        </p:nvGraphicFramePr>
        <p:xfrm>
          <a:off x="450187" y="870130"/>
          <a:ext cx="11034450" cy="5671606"/>
        </p:xfrm>
        <a:graphic>
          <a:graphicData uri="http://schemas.openxmlformats.org/drawingml/2006/table">
            <a:tbl>
              <a:tblPr/>
              <a:tblGrid>
                <a:gridCol w="1068513">
                  <a:extLst>
                    <a:ext uri="{9D8B030D-6E8A-4147-A177-3AD203B41FA5}">
                      <a16:colId xmlns:a16="http://schemas.microsoft.com/office/drawing/2014/main" val="2754301980"/>
                    </a:ext>
                  </a:extLst>
                </a:gridCol>
                <a:gridCol w="667820">
                  <a:extLst>
                    <a:ext uri="{9D8B030D-6E8A-4147-A177-3AD203B41FA5}">
                      <a16:colId xmlns:a16="http://schemas.microsoft.com/office/drawing/2014/main" val="436332282"/>
                    </a:ext>
                  </a:extLst>
                </a:gridCol>
                <a:gridCol w="647272">
                  <a:extLst>
                    <a:ext uri="{9D8B030D-6E8A-4147-A177-3AD203B41FA5}">
                      <a16:colId xmlns:a16="http://schemas.microsoft.com/office/drawing/2014/main" val="3319058846"/>
                    </a:ext>
                  </a:extLst>
                </a:gridCol>
                <a:gridCol w="780836">
                  <a:extLst>
                    <a:ext uri="{9D8B030D-6E8A-4147-A177-3AD203B41FA5}">
                      <a16:colId xmlns:a16="http://schemas.microsoft.com/office/drawing/2014/main" val="2164700493"/>
                    </a:ext>
                  </a:extLst>
                </a:gridCol>
                <a:gridCol w="780836">
                  <a:extLst>
                    <a:ext uri="{9D8B030D-6E8A-4147-A177-3AD203B41FA5}">
                      <a16:colId xmlns:a16="http://schemas.microsoft.com/office/drawing/2014/main" val="1274484334"/>
                    </a:ext>
                  </a:extLst>
                </a:gridCol>
                <a:gridCol w="750013">
                  <a:extLst>
                    <a:ext uri="{9D8B030D-6E8A-4147-A177-3AD203B41FA5}">
                      <a16:colId xmlns:a16="http://schemas.microsoft.com/office/drawing/2014/main" val="3205363427"/>
                    </a:ext>
                  </a:extLst>
                </a:gridCol>
                <a:gridCol w="832208">
                  <a:extLst>
                    <a:ext uri="{9D8B030D-6E8A-4147-A177-3AD203B41FA5}">
                      <a16:colId xmlns:a16="http://schemas.microsoft.com/office/drawing/2014/main" val="1574223196"/>
                    </a:ext>
                  </a:extLst>
                </a:gridCol>
                <a:gridCol w="863029">
                  <a:extLst>
                    <a:ext uri="{9D8B030D-6E8A-4147-A177-3AD203B41FA5}">
                      <a16:colId xmlns:a16="http://schemas.microsoft.com/office/drawing/2014/main" val="515590294"/>
                    </a:ext>
                  </a:extLst>
                </a:gridCol>
                <a:gridCol w="636998">
                  <a:extLst>
                    <a:ext uri="{9D8B030D-6E8A-4147-A177-3AD203B41FA5}">
                      <a16:colId xmlns:a16="http://schemas.microsoft.com/office/drawing/2014/main" val="1877903510"/>
                    </a:ext>
                  </a:extLst>
                </a:gridCol>
                <a:gridCol w="482885">
                  <a:extLst>
                    <a:ext uri="{9D8B030D-6E8A-4147-A177-3AD203B41FA5}">
                      <a16:colId xmlns:a16="http://schemas.microsoft.com/office/drawing/2014/main" val="3861350001"/>
                    </a:ext>
                  </a:extLst>
                </a:gridCol>
                <a:gridCol w="904126">
                  <a:extLst>
                    <a:ext uri="{9D8B030D-6E8A-4147-A177-3AD203B41FA5}">
                      <a16:colId xmlns:a16="http://schemas.microsoft.com/office/drawing/2014/main" val="461601858"/>
                    </a:ext>
                  </a:extLst>
                </a:gridCol>
                <a:gridCol w="893852">
                  <a:extLst>
                    <a:ext uri="{9D8B030D-6E8A-4147-A177-3AD203B41FA5}">
                      <a16:colId xmlns:a16="http://schemas.microsoft.com/office/drawing/2014/main" val="517379491"/>
                    </a:ext>
                  </a:extLst>
                </a:gridCol>
                <a:gridCol w="801384">
                  <a:extLst>
                    <a:ext uri="{9D8B030D-6E8A-4147-A177-3AD203B41FA5}">
                      <a16:colId xmlns:a16="http://schemas.microsoft.com/office/drawing/2014/main" val="3826676415"/>
                    </a:ext>
                  </a:extLst>
                </a:gridCol>
                <a:gridCol w="924678">
                  <a:extLst>
                    <a:ext uri="{9D8B030D-6E8A-4147-A177-3AD203B41FA5}">
                      <a16:colId xmlns:a16="http://schemas.microsoft.com/office/drawing/2014/main" val="588408029"/>
                    </a:ext>
                  </a:extLst>
                </a:gridCol>
              </a:tblGrid>
              <a:tr h="784009"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Country</a:t>
                      </a:r>
                    </a:p>
                  </a:txBody>
                  <a:tcPr marL="5439" marR="5439" marT="543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Finished; Never Started</a:t>
                      </a:r>
                    </a:p>
                  </a:txBody>
                  <a:tcPr marL="5439" marR="5439" marT="543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Finished;Never Started</a:t>
                      </a:r>
                    </a:p>
                  </a:txBody>
                  <a:tcPr marL="5439" marR="5439" marT="543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Inoperable</a:t>
                      </a:r>
                    </a:p>
                  </a:txBody>
                  <a:tcPr marL="5439" marR="5439" marT="543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Inoperable/Shut down</a:t>
                      </a:r>
                    </a:p>
                  </a:txBody>
                  <a:tcPr marL="5439" marR="5439" marT="543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Operation Suspended</a:t>
                      </a:r>
                    </a:p>
                  </a:txBody>
                  <a:tcPr marL="5439" marR="5439" marT="543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Operation Suspended (Restart Approved)</a:t>
                      </a:r>
                    </a:p>
                  </a:txBody>
                  <a:tcPr marL="5439" marR="5439" marT="543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Operational</a:t>
                      </a:r>
                    </a:p>
                  </a:txBody>
                  <a:tcPr marL="5439" marR="5439" marT="543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Planned</a:t>
                      </a:r>
                    </a:p>
                  </a:txBody>
                  <a:tcPr marL="5439" marR="5439" marT="543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Shut Down</a:t>
                      </a:r>
                    </a:p>
                  </a:txBody>
                  <a:tcPr marL="5439" marR="5439" marT="543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construction</a:t>
                      </a:r>
                    </a:p>
                  </a:txBody>
                  <a:tcPr marL="5439" marR="5439" marT="543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Maintenance</a:t>
                      </a:r>
                    </a:p>
                  </a:txBody>
                  <a:tcPr marL="5439" marR="5439" marT="543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Unfinished</a:t>
                      </a:r>
                    </a:p>
                  </a:txBody>
                  <a:tcPr marL="5439" marR="5439" marT="543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Unfinished; Restart Planned</a:t>
                      </a:r>
                    </a:p>
                  </a:txBody>
                  <a:tcPr marL="5439" marR="5439" marT="543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4275299"/>
                  </a:ext>
                </a:extLst>
              </a:tr>
              <a:tr h="185925"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Lithuania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2101739"/>
                  </a:ext>
                </a:extLst>
              </a:tr>
              <a:tr h="185925"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Mexico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2419708"/>
                  </a:ext>
                </a:extLst>
              </a:tr>
              <a:tr h="185925"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Netherlands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0162563"/>
                  </a:ext>
                </a:extLst>
              </a:tr>
              <a:tr h="185925"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North Korea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8275094"/>
                  </a:ext>
                </a:extLst>
              </a:tr>
              <a:tr h="185925"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Pakistan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5545447"/>
                  </a:ext>
                </a:extLst>
              </a:tr>
              <a:tr h="185925"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Philippines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8647675"/>
                  </a:ext>
                </a:extLst>
              </a:tr>
              <a:tr h="185925"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Poland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5591594"/>
                  </a:ext>
                </a:extLst>
              </a:tr>
              <a:tr h="185925"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Romania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8439158"/>
                  </a:ext>
                </a:extLst>
              </a:tr>
              <a:tr h="185925"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Russia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5609466"/>
                  </a:ext>
                </a:extLst>
              </a:tr>
              <a:tr h="185925"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Slovakia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4258669"/>
                  </a:ext>
                </a:extLst>
              </a:tr>
              <a:tr h="185925"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Slovenia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3627633"/>
                  </a:ext>
                </a:extLst>
              </a:tr>
              <a:tr h="185925"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South Africa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0592431"/>
                  </a:ext>
                </a:extLst>
              </a:tr>
              <a:tr h="185925"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South Korea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910500"/>
                  </a:ext>
                </a:extLst>
              </a:tr>
              <a:tr h="185925"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Spain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0561563"/>
                  </a:ext>
                </a:extLst>
              </a:tr>
              <a:tr h="185925"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Sweden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4094630"/>
                  </a:ext>
                </a:extLst>
              </a:tr>
              <a:tr h="185925"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Switzerland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6762213"/>
                  </a:ext>
                </a:extLst>
              </a:tr>
              <a:tr h="185925"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Taiwan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847212"/>
                  </a:ext>
                </a:extLst>
              </a:tr>
              <a:tr h="185925"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Turkey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7989317"/>
                  </a:ext>
                </a:extLst>
              </a:tr>
              <a:tr h="185925"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Ukraine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0613166"/>
                  </a:ext>
                </a:extLst>
              </a:tr>
              <a:tr h="366689"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United Arab Emirates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1691749"/>
                  </a:ext>
                </a:extLst>
              </a:tr>
              <a:tr h="185925"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United Kingdom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0242591"/>
                  </a:ext>
                </a:extLst>
              </a:tr>
              <a:tr h="185925"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United States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94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4701463"/>
                  </a:ext>
                </a:extLst>
              </a:tr>
              <a:tr h="185925"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Count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411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140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57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42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5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5439" marR="5439" marT="543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02592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9096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Content Placeholder 6">
            <a:extLst>
              <a:ext uri="{FF2B5EF4-FFF2-40B4-BE49-F238E27FC236}">
                <a16:creationId xmlns:a16="http://schemas.microsoft.com/office/drawing/2014/main" id="{EB0189E2-7DB6-407B-6357-389F94007CC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1543975"/>
              </p:ext>
            </p:extLst>
          </p:nvPr>
        </p:nvGraphicFramePr>
        <p:xfrm>
          <a:off x="323631" y="525496"/>
          <a:ext cx="4186724" cy="6206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3928">
                  <a:extLst>
                    <a:ext uri="{9D8B030D-6E8A-4147-A177-3AD203B41FA5}">
                      <a16:colId xmlns:a16="http://schemas.microsoft.com/office/drawing/2014/main" val="2041079139"/>
                    </a:ext>
                  </a:extLst>
                </a:gridCol>
                <a:gridCol w="1027416">
                  <a:extLst>
                    <a:ext uri="{9D8B030D-6E8A-4147-A177-3AD203B41FA5}">
                      <a16:colId xmlns:a16="http://schemas.microsoft.com/office/drawing/2014/main" val="2280929503"/>
                    </a:ext>
                  </a:extLst>
                </a:gridCol>
                <a:gridCol w="1047964">
                  <a:extLst>
                    <a:ext uri="{9D8B030D-6E8A-4147-A177-3AD203B41FA5}">
                      <a16:colId xmlns:a16="http://schemas.microsoft.com/office/drawing/2014/main" val="3903442158"/>
                    </a:ext>
                  </a:extLst>
                </a:gridCol>
                <a:gridCol w="1027416">
                  <a:extLst>
                    <a:ext uri="{9D8B030D-6E8A-4147-A177-3AD203B41FA5}">
                      <a16:colId xmlns:a16="http://schemas.microsoft.com/office/drawing/2014/main" val="2810626789"/>
                    </a:ext>
                  </a:extLst>
                </a:gridCol>
              </a:tblGrid>
              <a:tr h="36129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Country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2" marR="5712" marT="5712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Count of Coal plant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2" marR="5712" marT="5712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Max Capacity (MW)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2" marR="5712" marT="5712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 Capacity</a:t>
                      </a:r>
                    </a:p>
                    <a:p>
                      <a:pPr algn="ctr" fontAlgn="b"/>
                      <a:r>
                        <a:rPr lang="en-US" sz="12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(MW)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2" marR="5712" marT="5712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095889"/>
                  </a:ext>
                </a:extLst>
              </a:tr>
              <a:tr h="17457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Argentina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2" marR="5712" marT="571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2" marR="5712" marT="571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2" marR="5712" marT="571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2" marR="5712" marT="571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108276"/>
                  </a:ext>
                </a:extLst>
              </a:tr>
              <a:tr h="17457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Australia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2" marR="5712" marT="571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58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2" marR="5712" marT="571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2" marR="5712" marT="571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2" marR="5712" marT="571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146286"/>
                  </a:ext>
                </a:extLst>
              </a:tr>
              <a:tr h="17457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Bangladesh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2" marR="5712" marT="571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2" marR="5712" marT="571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2" marR="5712" marT="571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2" marR="5712" marT="571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9095169"/>
                  </a:ext>
                </a:extLst>
              </a:tr>
              <a:tr h="24941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Bosnia And Herzegovina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2" marR="5712" marT="571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2" marR="5712" marT="571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2" marR="5712" marT="571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2" marR="5712" marT="571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8184105"/>
                  </a:ext>
                </a:extLst>
              </a:tr>
              <a:tr h="17457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Botswana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2" marR="5712" marT="571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2" marR="5712" marT="571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2" marR="5712" marT="571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2" marR="5712" marT="571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1093368"/>
                  </a:ext>
                </a:extLst>
              </a:tr>
              <a:tr h="17457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Brazil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2" marR="5712" marT="571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2" marR="5712" marT="571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2" marR="5712" marT="571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2" marR="5712" marT="571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3220507"/>
                  </a:ext>
                </a:extLst>
              </a:tr>
              <a:tr h="17457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Brunei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2" marR="5712" marT="571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2" marR="5712" marT="571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2" marR="5712" marT="571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2" marR="5712" marT="571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1556787"/>
                  </a:ext>
                </a:extLst>
              </a:tr>
              <a:tr h="17457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Bulgaria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2" marR="5712" marT="571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2" marR="5712" marT="571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2" marR="5712" marT="571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2" marR="5712" marT="571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5978602"/>
                  </a:ext>
                </a:extLst>
              </a:tr>
              <a:tr h="17457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Cambodia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2" marR="5712" marT="571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2" marR="5712" marT="571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2" marR="5712" marT="571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2" marR="5712" marT="571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033935"/>
                  </a:ext>
                </a:extLst>
              </a:tr>
              <a:tr h="17457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Canada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2" marR="5712" marT="571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2" marR="5712" marT="571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2" marR="5712" marT="571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2" marR="5712" marT="571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990048"/>
                  </a:ext>
                </a:extLst>
              </a:tr>
              <a:tr h="17457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Chile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2" marR="5712" marT="571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2" marR="5712" marT="571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2" marR="5712" marT="571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2" marR="5712" marT="571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848702"/>
                  </a:ext>
                </a:extLst>
              </a:tr>
              <a:tr h="17457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China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2" marR="5712" marT="571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3698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2" marR="5712" marT="571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1350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2" marR="5712" marT="571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2" marR="5712" marT="571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4620184"/>
                  </a:ext>
                </a:extLst>
              </a:tr>
              <a:tr h="17457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Colombia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2" marR="5712" marT="571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2" marR="5712" marT="571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273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2" marR="5712" marT="571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2" marR="5712" marT="571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3915960"/>
                  </a:ext>
                </a:extLst>
              </a:tr>
              <a:tr h="17457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Croatia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2" marR="5712" marT="571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2" marR="5712" marT="571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2" marR="5712" marT="571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2" marR="5712" marT="571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4351493"/>
                  </a:ext>
                </a:extLst>
              </a:tr>
              <a:tr h="17457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Czech Republic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2" marR="5712" marT="571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2" marR="5712" marT="571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660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2" marR="5712" marT="571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2" marR="5712" marT="571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0530786"/>
                  </a:ext>
                </a:extLst>
              </a:tr>
              <a:tr h="17457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Denmark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2" marR="5712" marT="571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2" marR="5712" marT="571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2" marR="5712" marT="571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2" marR="5712" marT="571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2152126"/>
                  </a:ext>
                </a:extLst>
              </a:tr>
              <a:tr h="21122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Dominican Republic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2" marR="5712" marT="571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2" marR="5712" marT="571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376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2" marR="5712" marT="571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2" marR="5712" marT="571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0931271"/>
                  </a:ext>
                </a:extLst>
              </a:tr>
              <a:tr h="17457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Eswatini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2" marR="5712" marT="571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2" marR="5712" marT="571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2" marR="5712" marT="571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2" marR="5712" marT="571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5298333"/>
                  </a:ext>
                </a:extLst>
              </a:tr>
              <a:tr h="17457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Finland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2" marR="5712" marT="571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2" marR="5712" marT="571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2" marR="5712" marT="571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2" marR="5712" marT="571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8858179"/>
                  </a:ext>
                </a:extLst>
              </a:tr>
              <a:tr h="17457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France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2" marR="5712" marT="571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2" marR="5712" marT="571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647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2" marR="5712" marT="571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46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2" marR="5712" marT="571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474757"/>
                  </a:ext>
                </a:extLst>
              </a:tr>
              <a:tr h="17457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Germany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2" marR="5712" marT="571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2" marR="5712" marT="571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2" marR="5712" marT="571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2" marR="5712" marT="571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7640152"/>
                  </a:ext>
                </a:extLst>
              </a:tr>
              <a:tr h="17457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Greece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2" marR="5712" marT="571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2" marR="5712" marT="571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660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2" marR="5712" marT="571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2" marR="5712" marT="571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6067996"/>
                  </a:ext>
                </a:extLst>
              </a:tr>
              <a:tr h="17457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Guadeloupe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2" marR="5712" marT="571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2" marR="5712" marT="571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2" marR="5712" marT="571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2" marR="5712" marT="571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2927729"/>
                  </a:ext>
                </a:extLst>
              </a:tr>
              <a:tr h="17457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Guatemala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2" marR="5712" marT="571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2" marR="5712" marT="571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2" marR="5712" marT="571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2" marR="5712" marT="571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0395022"/>
                  </a:ext>
                </a:extLst>
              </a:tr>
              <a:tr h="17457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Honduras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2" marR="5712" marT="571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2" marR="5712" marT="571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2" marR="5712" marT="571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2" marR="5712" marT="571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8647558"/>
                  </a:ext>
                </a:extLst>
              </a:tr>
              <a:tr h="17457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Hong Kong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2" marR="5712" marT="571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2" marR="5712" marT="571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2" marR="5712" marT="571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2" marR="5712" marT="571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6390614"/>
                  </a:ext>
                </a:extLst>
              </a:tr>
              <a:tr h="17457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Hungary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2" marR="5712" marT="571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2" marR="5712" marT="571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2" marR="5712" marT="571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2" marR="5712" marT="571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6928321"/>
                  </a:ext>
                </a:extLst>
              </a:tr>
              <a:tr h="17457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India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2" marR="5712" marT="571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933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2" marR="5712" marT="571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2" marR="5712" marT="571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2" marR="5712" marT="571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729533"/>
                  </a:ext>
                </a:extLst>
              </a:tr>
              <a:tr h="17457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Indonesia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2" marR="5712" marT="571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2" marR="5712" marT="571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2" marR="5712" marT="571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2" marR="5712" marT="571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8744733"/>
                  </a:ext>
                </a:extLst>
              </a:tr>
            </a:tbl>
          </a:graphicData>
        </a:graphic>
      </p:graphicFrame>
      <p:sp>
        <p:nvSpPr>
          <p:cNvPr id="10" name="Title 1">
            <a:extLst>
              <a:ext uri="{FF2B5EF4-FFF2-40B4-BE49-F238E27FC236}">
                <a16:creationId xmlns:a16="http://schemas.microsoft.com/office/drawing/2014/main" id="{0EB04867-471F-D0B2-1F99-1E759AA54CE3}"/>
              </a:ext>
            </a:extLst>
          </p:cNvPr>
          <p:cNvSpPr txBox="1">
            <a:spLocks/>
          </p:cNvSpPr>
          <p:nvPr/>
        </p:nvSpPr>
        <p:spPr>
          <a:xfrm>
            <a:off x="0" y="-29308"/>
            <a:ext cx="3948845" cy="5548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FF0000"/>
                </a:solidFill>
              </a:rPr>
              <a:t>Global Coal Plant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EF7F462-5AB9-4889-9F83-B877DA701323}"/>
              </a:ext>
            </a:extLst>
          </p:cNvPr>
          <p:cNvCxnSpPr>
            <a:cxnSpLocks/>
          </p:cNvCxnSpPr>
          <p:nvPr/>
        </p:nvCxnSpPr>
        <p:spPr>
          <a:xfrm>
            <a:off x="118148" y="443302"/>
            <a:ext cx="11662307" cy="0"/>
          </a:xfrm>
          <a:prstGeom prst="line">
            <a:avLst/>
          </a:prstGeom>
          <a:ln w="381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2E223D6F-6D52-9564-E629-D882C373DC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4640426"/>
              </p:ext>
            </p:extLst>
          </p:nvPr>
        </p:nvGraphicFramePr>
        <p:xfrm>
          <a:off x="4874498" y="898391"/>
          <a:ext cx="3205278" cy="58151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43453">
                  <a:extLst>
                    <a:ext uri="{9D8B030D-6E8A-4147-A177-3AD203B41FA5}">
                      <a16:colId xmlns:a16="http://schemas.microsoft.com/office/drawing/2014/main" val="1445774725"/>
                    </a:ext>
                  </a:extLst>
                </a:gridCol>
                <a:gridCol w="581025">
                  <a:extLst>
                    <a:ext uri="{9D8B030D-6E8A-4147-A177-3AD203B41FA5}">
                      <a16:colId xmlns:a16="http://schemas.microsoft.com/office/drawing/2014/main" val="1951534966"/>
                    </a:ext>
                  </a:extLst>
                </a:gridCol>
                <a:gridCol w="790575">
                  <a:extLst>
                    <a:ext uri="{9D8B030D-6E8A-4147-A177-3AD203B41FA5}">
                      <a16:colId xmlns:a16="http://schemas.microsoft.com/office/drawing/2014/main" val="717085620"/>
                    </a:ext>
                  </a:extLst>
                </a:gridCol>
                <a:gridCol w="790225">
                  <a:extLst>
                    <a:ext uri="{9D8B030D-6E8A-4147-A177-3AD203B41FA5}">
                      <a16:colId xmlns:a16="http://schemas.microsoft.com/office/drawing/2014/main" val="2826149373"/>
                    </a:ext>
                  </a:extLst>
                </a:gridCol>
              </a:tblGrid>
              <a:tr h="1410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Iran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3" marR="4863" marT="4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3" marR="4863" marT="4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3" marR="4863" marT="4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3" marR="4863" marT="4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1997507"/>
                  </a:ext>
                </a:extLst>
              </a:tr>
              <a:tr h="1410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Ireland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3" marR="4863" marT="4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3" marR="4863" marT="4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3" marR="4863" marT="4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3" marR="4863" marT="4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2262066"/>
                  </a:ext>
                </a:extLst>
              </a:tr>
              <a:tr h="1410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Israel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3" marR="4863" marT="4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3" marR="4863" marT="4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575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3" marR="4863" marT="4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3" marR="4863" marT="4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5654374"/>
                  </a:ext>
                </a:extLst>
              </a:tr>
              <a:tr h="1410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Italy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3" marR="4863" marT="4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3" marR="4863" marT="4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660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3" marR="4863" marT="4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3" marR="4863" marT="4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7657921"/>
                  </a:ext>
                </a:extLst>
              </a:tr>
              <a:tr h="1410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Japan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3" marR="4863" marT="4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157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3" marR="4863" marT="4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1070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3" marR="4863" marT="4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3" marR="4863" marT="4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3092986"/>
                  </a:ext>
                </a:extLst>
              </a:tr>
              <a:tr h="1410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Kazakhstan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3" marR="4863" marT="4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3" marR="4863" marT="4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636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3" marR="4863" marT="4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3" marR="4863" marT="4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785408"/>
                  </a:ext>
                </a:extLst>
              </a:tr>
              <a:tr h="1410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Kenya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3" marR="4863" marT="4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3" marR="4863" marT="4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3" marR="4863" marT="4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3" marR="4863" marT="4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8257519"/>
                  </a:ext>
                </a:extLst>
              </a:tr>
              <a:tr h="1410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Kosovo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3" marR="4863" marT="4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3" marR="4863" marT="4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3" marR="4863" marT="4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3" marR="4863" marT="4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4826320"/>
                  </a:ext>
                </a:extLst>
              </a:tr>
              <a:tr h="1410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Kyrgyzstan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3" marR="4863" marT="4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3" marR="4863" marT="4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3" marR="4863" marT="4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3" marR="4863" marT="4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7294949"/>
                  </a:ext>
                </a:extLst>
              </a:tr>
              <a:tr h="1410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Laos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3" marR="4863" marT="4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3" marR="4863" marT="4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3" marR="4863" marT="4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3" marR="4863" marT="4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6474725"/>
                  </a:ext>
                </a:extLst>
              </a:tr>
              <a:tr h="1410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Madagascar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3" marR="4863" marT="4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3" marR="4863" marT="4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3" marR="4863" marT="4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3" marR="4863" marT="4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5820818"/>
                  </a:ext>
                </a:extLst>
              </a:tr>
              <a:tr h="1410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Malawi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3" marR="4863" marT="4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3" marR="4863" marT="4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3" marR="4863" marT="4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3" marR="4863" marT="4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326522"/>
                  </a:ext>
                </a:extLst>
              </a:tr>
              <a:tr h="1410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Malaysia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3" marR="4863" marT="4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3" marR="4863" marT="4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3" marR="4863" marT="4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3" marR="4863" marT="4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9230050"/>
                  </a:ext>
                </a:extLst>
              </a:tr>
              <a:tr h="1410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Mauritius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3" marR="4863" marT="4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3" marR="4863" marT="4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3" marR="4863" marT="4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3" marR="4863" marT="4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801878"/>
                  </a:ext>
                </a:extLst>
              </a:tr>
              <a:tr h="1410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Mexico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3" marR="4863" marT="4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3" marR="4863" marT="4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678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3" marR="4863" marT="4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3" marR="4863" marT="4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2270986"/>
                  </a:ext>
                </a:extLst>
              </a:tr>
              <a:tr h="1410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Mongolia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3" marR="4863" marT="4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3" marR="4863" marT="4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5280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3" marR="4863" marT="4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3" marR="4863" marT="4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7704896"/>
                  </a:ext>
                </a:extLst>
              </a:tr>
              <a:tr h="1410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Montenegro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3" marR="4863" marT="4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3" marR="4863" marT="4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3" marR="4863" marT="4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3" marR="4863" marT="4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0263030"/>
                  </a:ext>
                </a:extLst>
              </a:tr>
              <a:tr h="1410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Morocco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3" marR="4863" marT="4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3" marR="4863" marT="4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693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3" marR="4863" marT="4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3" marR="4863" marT="4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765663"/>
                  </a:ext>
                </a:extLst>
              </a:tr>
              <a:tr h="1410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Mozambique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3" marR="4863" marT="4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3" marR="4863" marT="4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3" marR="4863" marT="4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3" marR="4863" marT="4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3989447"/>
                  </a:ext>
                </a:extLst>
              </a:tr>
              <a:tr h="1410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Myanmar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3" marR="4863" marT="4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3" marR="4863" marT="4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3" marR="4863" marT="4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3" marR="4863" marT="4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0277219"/>
                  </a:ext>
                </a:extLst>
              </a:tr>
              <a:tr h="1410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Namibia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3" marR="4863" marT="4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3" marR="4863" marT="4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3" marR="4863" marT="4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3" marR="4863" marT="4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6866793"/>
                  </a:ext>
                </a:extLst>
              </a:tr>
              <a:tr h="1410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Netherlands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3" marR="4863" marT="4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3" marR="4863" marT="4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3" marR="4863" marT="4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3" marR="4863" marT="4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930265"/>
                  </a:ext>
                </a:extLst>
              </a:tr>
              <a:tr h="1410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New Zealand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3" marR="4863" marT="4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3" marR="4863" marT="4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3" marR="4863" marT="4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3" marR="4863" marT="4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4165188"/>
                  </a:ext>
                </a:extLst>
              </a:tr>
              <a:tr h="1410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Niger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3" marR="4863" marT="4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3" marR="4863" marT="4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3" marR="4863" marT="4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3" marR="4863" marT="4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8764341"/>
                  </a:ext>
                </a:extLst>
              </a:tr>
              <a:tr h="1410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Nigeria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3" marR="4863" marT="4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3" marR="4863" marT="4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3" marR="4863" marT="4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3" marR="4863" marT="4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0204074"/>
                  </a:ext>
                </a:extLst>
              </a:tr>
              <a:tr h="1410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North Korea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3" marR="4863" marT="4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3" marR="4863" marT="4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3" marR="4863" marT="4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3" marR="4863" marT="4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1354870"/>
                  </a:ext>
                </a:extLst>
              </a:tr>
              <a:tr h="1544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North Macedonia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3" marR="4863" marT="4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3" marR="4863" marT="4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3" marR="4863" marT="4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3" marR="4863" marT="4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3656583"/>
                  </a:ext>
                </a:extLst>
              </a:tr>
              <a:tr h="1410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Pakistan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3" marR="4863" marT="4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3" marR="4863" marT="4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3" marR="4863" marT="4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3" marR="4863" marT="4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7632360"/>
                  </a:ext>
                </a:extLst>
              </a:tr>
              <a:tr h="1410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Panama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3" marR="4863" marT="4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3" marR="4863" marT="4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3" marR="4863" marT="4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153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3" marR="4863" marT="4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918297"/>
                  </a:ext>
                </a:extLst>
              </a:tr>
              <a:tr h="1410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Philippines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3" marR="4863" marT="4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3" marR="4863" marT="4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668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3" marR="4863" marT="4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3" marR="4863" marT="4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119006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90EA3DED-471A-4FCA-FA33-45B5F172A5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6048173"/>
              </p:ext>
            </p:extLst>
          </p:nvPr>
        </p:nvGraphicFramePr>
        <p:xfrm>
          <a:off x="8322881" y="907152"/>
          <a:ext cx="3457574" cy="47635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99198">
                  <a:extLst>
                    <a:ext uri="{9D8B030D-6E8A-4147-A177-3AD203B41FA5}">
                      <a16:colId xmlns:a16="http://schemas.microsoft.com/office/drawing/2014/main" val="309422203"/>
                    </a:ext>
                  </a:extLst>
                </a:gridCol>
                <a:gridCol w="483943">
                  <a:extLst>
                    <a:ext uri="{9D8B030D-6E8A-4147-A177-3AD203B41FA5}">
                      <a16:colId xmlns:a16="http://schemas.microsoft.com/office/drawing/2014/main" val="2966427791"/>
                    </a:ext>
                  </a:extLst>
                </a:gridCol>
                <a:gridCol w="982582">
                  <a:extLst>
                    <a:ext uri="{9D8B030D-6E8A-4147-A177-3AD203B41FA5}">
                      <a16:colId xmlns:a16="http://schemas.microsoft.com/office/drawing/2014/main" val="1376512768"/>
                    </a:ext>
                  </a:extLst>
                </a:gridCol>
                <a:gridCol w="991851">
                  <a:extLst>
                    <a:ext uri="{9D8B030D-6E8A-4147-A177-3AD203B41FA5}">
                      <a16:colId xmlns:a16="http://schemas.microsoft.com/office/drawing/2014/main" val="1938088461"/>
                    </a:ext>
                  </a:extLst>
                </a:gridCol>
              </a:tblGrid>
              <a:tr h="18232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Poland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2" marR="6072" marT="60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2" marR="6072" marT="60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1075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2" marR="6072" marT="60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2" marR="6072" marT="60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8730829"/>
                  </a:ext>
                </a:extLst>
              </a:tr>
              <a:tr h="18232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Romania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2" marR="6072" marT="60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2" marR="6072" marT="60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2" marR="6072" marT="60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2" marR="6072" marT="60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6409710"/>
                  </a:ext>
                </a:extLst>
              </a:tr>
              <a:tr h="18232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Russia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2" marR="6072" marT="60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2" marR="6072" marT="60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2" marR="6072" marT="60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2" marR="6072" marT="60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9000002"/>
                  </a:ext>
                </a:extLst>
              </a:tr>
              <a:tr h="18232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Senegal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2" marR="6072" marT="60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2" marR="6072" marT="60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2" marR="6072" marT="60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2" marR="6072" marT="60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7147618"/>
                  </a:ext>
                </a:extLst>
              </a:tr>
              <a:tr h="18232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Serbia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2" marR="6072" marT="60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2" marR="6072" marT="60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2" marR="6072" marT="60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2" marR="6072" marT="60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6885218"/>
                  </a:ext>
                </a:extLst>
              </a:tr>
              <a:tr h="18232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Slovakia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2" marR="6072" marT="60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2" marR="6072" marT="60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2" marR="6072" marT="60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2" marR="6072" marT="60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5151"/>
                  </a:ext>
                </a:extLst>
              </a:tr>
              <a:tr h="17447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Slovenia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2" marR="6072" marT="60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2" marR="6072" marT="60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2" marR="6072" marT="60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2" marR="6072" marT="60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4745692"/>
                  </a:ext>
                </a:extLst>
              </a:tr>
              <a:tr h="24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South Africa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2" marR="6072" marT="60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2" marR="6072" marT="60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2" marR="6072" marT="60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2" marR="6072" marT="60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256134"/>
                  </a:ext>
                </a:extLst>
              </a:tr>
              <a:tr h="18232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South Korea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2" marR="6072" marT="60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2" marR="6072" marT="60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1050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2" marR="6072" marT="60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2" marR="6072" marT="60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4048451"/>
                  </a:ext>
                </a:extLst>
              </a:tr>
              <a:tr h="18232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Spain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2" marR="6072" marT="60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2" marR="6072" marT="60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589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2" marR="6072" marT="60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2" marR="6072" marT="60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7933561"/>
                  </a:ext>
                </a:extLst>
              </a:tr>
              <a:tr h="18232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Sri Lanka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2" marR="6072" marT="60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2" marR="6072" marT="60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2" marR="6072" marT="60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2" marR="6072" marT="60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8470765"/>
                  </a:ext>
                </a:extLst>
              </a:tr>
              <a:tr h="24447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TÃƒÆ’Ã‚Â¼rkiye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2" marR="6072" marT="60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2" marR="6072" marT="60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2" marR="6072" marT="60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2" marR="6072" marT="60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9832068"/>
                  </a:ext>
                </a:extLst>
              </a:tr>
              <a:tr h="18232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Taiwan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2" marR="6072" marT="60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2" marR="6072" marT="60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2" marR="6072" marT="60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2" marR="6072" marT="60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8346769"/>
                  </a:ext>
                </a:extLst>
              </a:tr>
              <a:tr h="18232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Tajikistan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2" marR="6072" marT="60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2" marR="6072" marT="60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2" marR="6072" marT="60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2" marR="6072" marT="60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7418660"/>
                  </a:ext>
                </a:extLst>
              </a:tr>
              <a:tr h="18232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Tanzania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2" marR="6072" marT="60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2" marR="6072" marT="60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2" marR="6072" marT="60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2" marR="6072" marT="60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1804587"/>
                  </a:ext>
                </a:extLst>
              </a:tr>
              <a:tr h="18232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Thailand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2" marR="6072" marT="60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2" marR="6072" marT="60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717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2" marR="6072" marT="60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2" marR="6072" marT="60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9620279"/>
                  </a:ext>
                </a:extLst>
              </a:tr>
              <a:tr h="18232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Ukraine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2" marR="6072" marT="60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2" marR="6072" marT="60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2" marR="6072" marT="60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2" marR="6072" marT="60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65926"/>
                  </a:ext>
                </a:extLst>
              </a:tr>
              <a:tr h="20279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United Kingdom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2" marR="6072" marT="60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2" marR="6072" marT="60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2" marR="6072" marT="60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283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2" marR="6072" marT="60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2364359"/>
                  </a:ext>
                </a:extLst>
              </a:tr>
              <a:tr h="18232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United States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2" marR="6072" marT="60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441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2" marR="6072" marT="60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2" marR="6072" marT="60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2" marR="6072" marT="60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7409577"/>
                  </a:ext>
                </a:extLst>
              </a:tr>
              <a:tr h="18232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Uzbekistan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2" marR="6072" marT="60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2" marR="6072" marT="60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2" marR="6072" marT="60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2" marR="6072" marT="60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4241555"/>
                  </a:ext>
                </a:extLst>
              </a:tr>
              <a:tr h="18232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Vietnam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2" marR="6072" marT="60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2" marR="6072" marT="60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688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2" marR="6072" marT="60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2" marR="6072" marT="60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776062"/>
                  </a:ext>
                </a:extLst>
              </a:tr>
              <a:tr h="18232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Zambia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2" marR="6072" marT="60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2" marR="6072" marT="60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2" marR="6072" marT="60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2" marR="6072" marT="60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7345484"/>
                  </a:ext>
                </a:extLst>
              </a:tr>
              <a:tr h="18232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Zimbabwe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2" marR="6072" marT="60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2" marR="6072" marT="60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2" marR="6072" marT="60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2" marR="6072" marT="607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2378832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FCBEC326-AE73-195D-6C45-820E3D2B6B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5044009"/>
              </p:ext>
            </p:extLst>
          </p:nvPr>
        </p:nvGraphicFramePr>
        <p:xfrm>
          <a:off x="8456751" y="5950848"/>
          <a:ext cx="3205279" cy="656606"/>
        </p:xfrm>
        <a:graphic>
          <a:graphicData uri="http://schemas.openxmlformats.org/drawingml/2006/table">
            <a:tbl>
              <a:tblPr/>
              <a:tblGrid>
                <a:gridCol w="1935333">
                  <a:extLst>
                    <a:ext uri="{9D8B030D-6E8A-4147-A177-3AD203B41FA5}">
                      <a16:colId xmlns:a16="http://schemas.microsoft.com/office/drawing/2014/main" val="2782627700"/>
                    </a:ext>
                  </a:extLst>
                </a:gridCol>
                <a:gridCol w="1269946">
                  <a:extLst>
                    <a:ext uri="{9D8B030D-6E8A-4147-A177-3AD203B41FA5}">
                      <a16:colId xmlns:a16="http://schemas.microsoft.com/office/drawing/2014/main" val="3165959398"/>
                    </a:ext>
                  </a:extLst>
                </a:gridCol>
              </a:tblGrid>
              <a:tr h="26015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 of Power Plant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Count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911183"/>
                  </a:ext>
                </a:extLst>
              </a:tr>
              <a:tr h="39645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Coal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7568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3465922"/>
                  </a:ext>
                </a:extLst>
              </a:tr>
            </a:tbl>
          </a:graphicData>
        </a:graphic>
      </p:graphicFrame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AFFEC3A-B2B1-F92E-81EA-74F5DF6102D8}"/>
              </a:ext>
            </a:extLst>
          </p:cNvPr>
          <p:cNvCxnSpPr/>
          <p:nvPr/>
        </p:nvCxnSpPr>
        <p:spPr>
          <a:xfrm>
            <a:off x="8268263" y="5835251"/>
            <a:ext cx="0" cy="1006868"/>
          </a:xfrm>
          <a:prstGeom prst="line">
            <a:avLst/>
          </a:prstGeom>
          <a:ln w="28575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38E75B4-81D8-F471-A92D-7E854ABE1607}"/>
              </a:ext>
            </a:extLst>
          </p:cNvPr>
          <p:cNvCxnSpPr/>
          <p:nvPr/>
        </p:nvCxnSpPr>
        <p:spPr>
          <a:xfrm>
            <a:off x="8322881" y="5835251"/>
            <a:ext cx="3457574" cy="0"/>
          </a:xfrm>
          <a:prstGeom prst="line">
            <a:avLst/>
          </a:prstGeom>
          <a:ln w="28575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60107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9A7D6D75-F6B9-26B5-4725-68F356041326}"/>
              </a:ext>
            </a:extLst>
          </p:cNvPr>
          <p:cNvSpPr txBox="1">
            <a:spLocks/>
          </p:cNvSpPr>
          <p:nvPr/>
        </p:nvSpPr>
        <p:spPr>
          <a:xfrm>
            <a:off x="0" y="102421"/>
            <a:ext cx="3948845" cy="5548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FF0000"/>
                </a:solidFill>
              </a:rPr>
              <a:t>Global Coal Plant Tracker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47144F3-4DC5-B5A9-B44E-CFD4374A22E0}"/>
              </a:ext>
            </a:extLst>
          </p:cNvPr>
          <p:cNvCxnSpPr>
            <a:cxnSpLocks/>
          </p:cNvCxnSpPr>
          <p:nvPr/>
        </p:nvCxnSpPr>
        <p:spPr>
          <a:xfrm>
            <a:off x="79109" y="657225"/>
            <a:ext cx="11789040" cy="0"/>
          </a:xfrm>
          <a:prstGeom prst="line">
            <a:avLst/>
          </a:prstGeom>
          <a:ln w="381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938F958-418D-8C48-8525-B04573BAFD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8948210"/>
              </p:ext>
            </p:extLst>
          </p:nvPr>
        </p:nvGraphicFramePr>
        <p:xfrm>
          <a:off x="107775" y="1069984"/>
          <a:ext cx="3110201" cy="527943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34911">
                  <a:extLst>
                    <a:ext uri="{9D8B030D-6E8A-4147-A177-3AD203B41FA5}">
                      <a16:colId xmlns:a16="http://schemas.microsoft.com/office/drawing/2014/main" val="627307397"/>
                    </a:ext>
                  </a:extLst>
                </a:gridCol>
                <a:gridCol w="445055">
                  <a:extLst>
                    <a:ext uri="{9D8B030D-6E8A-4147-A177-3AD203B41FA5}">
                      <a16:colId xmlns:a16="http://schemas.microsoft.com/office/drawing/2014/main" val="1380339637"/>
                    </a:ext>
                  </a:extLst>
                </a:gridCol>
                <a:gridCol w="516038">
                  <a:extLst>
                    <a:ext uri="{9D8B030D-6E8A-4147-A177-3AD203B41FA5}">
                      <a16:colId xmlns:a16="http://schemas.microsoft.com/office/drawing/2014/main" val="319655031"/>
                    </a:ext>
                  </a:extLst>
                </a:gridCol>
                <a:gridCol w="397632">
                  <a:extLst>
                    <a:ext uri="{9D8B030D-6E8A-4147-A177-3AD203B41FA5}">
                      <a16:colId xmlns:a16="http://schemas.microsoft.com/office/drawing/2014/main" val="1634580738"/>
                    </a:ext>
                  </a:extLst>
                </a:gridCol>
                <a:gridCol w="437026">
                  <a:extLst>
                    <a:ext uri="{9D8B030D-6E8A-4147-A177-3AD203B41FA5}">
                      <a16:colId xmlns:a16="http://schemas.microsoft.com/office/drawing/2014/main" val="3940108064"/>
                    </a:ext>
                  </a:extLst>
                </a:gridCol>
                <a:gridCol w="479539">
                  <a:extLst>
                    <a:ext uri="{9D8B030D-6E8A-4147-A177-3AD203B41FA5}">
                      <a16:colId xmlns:a16="http://schemas.microsoft.com/office/drawing/2014/main" val="2651555177"/>
                    </a:ext>
                  </a:extLst>
                </a:gridCol>
              </a:tblGrid>
              <a:tr h="5563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Country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Announced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Construction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Operating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Permitted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Pre-Permit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5115123"/>
                  </a:ext>
                </a:extLst>
              </a:tr>
              <a:tr h="18968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Argentina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2673893"/>
                  </a:ext>
                </a:extLst>
              </a:tr>
              <a:tr h="18968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Australia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3223542"/>
                  </a:ext>
                </a:extLst>
              </a:tr>
              <a:tr h="18968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Bangladesh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899954"/>
                  </a:ext>
                </a:extLst>
              </a:tr>
              <a:tr h="37301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Bosnia And Herzegovina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0818129"/>
                  </a:ext>
                </a:extLst>
              </a:tr>
              <a:tr h="18968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Botswana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6008865"/>
                  </a:ext>
                </a:extLst>
              </a:tr>
              <a:tr h="18968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Brazil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3749572"/>
                  </a:ext>
                </a:extLst>
              </a:tr>
              <a:tr h="18968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Brunei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1183138"/>
                  </a:ext>
                </a:extLst>
              </a:tr>
              <a:tr h="18968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Bulgaria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2762222"/>
                  </a:ext>
                </a:extLst>
              </a:tr>
              <a:tr h="18968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Cambodia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8800277"/>
                  </a:ext>
                </a:extLst>
              </a:tr>
              <a:tr h="18968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Canada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3147852"/>
                  </a:ext>
                </a:extLst>
              </a:tr>
              <a:tr h="18968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Chile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1559851"/>
                  </a:ext>
                </a:extLst>
              </a:tr>
              <a:tr h="18968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China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3090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7594214"/>
                  </a:ext>
                </a:extLst>
              </a:tr>
              <a:tr h="18968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Colombia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8003999"/>
                  </a:ext>
                </a:extLst>
              </a:tr>
              <a:tr h="18968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Croatia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0102906"/>
                  </a:ext>
                </a:extLst>
              </a:tr>
              <a:tr h="37301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Czech Republic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69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7527561"/>
                  </a:ext>
                </a:extLst>
              </a:tr>
              <a:tr h="18968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Denmark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4371065"/>
                  </a:ext>
                </a:extLst>
              </a:tr>
              <a:tr h="37301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Dominican Republic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4827357"/>
                  </a:ext>
                </a:extLst>
              </a:tr>
              <a:tr h="18968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Eswatini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6594999"/>
                  </a:ext>
                </a:extLst>
              </a:tr>
              <a:tr h="18968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Finland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8731869"/>
                  </a:ext>
                </a:extLst>
              </a:tr>
              <a:tr h="18968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France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5249347"/>
                  </a:ext>
                </a:extLst>
              </a:tr>
              <a:tr h="18968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Germany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9231108"/>
                  </a:ext>
                </a:extLst>
              </a:tr>
              <a:tr h="18968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Greece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0961227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2680C53-D69F-695C-5DAE-B4EC5626C0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6707694"/>
              </p:ext>
            </p:extLst>
          </p:nvPr>
        </p:nvGraphicFramePr>
        <p:xfrm>
          <a:off x="3284147" y="1069984"/>
          <a:ext cx="2798470" cy="52794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98605">
                  <a:extLst>
                    <a:ext uri="{9D8B030D-6E8A-4147-A177-3AD203B41FA5}">
                      <a16:colId xmlns:a16="http://schemas.microsoft.com/office/drawing/2014/main" val="1019186817"/>
                    </a:ext>
                  </a:extLst>
                </a:gridCol>
                <a:gridCol w="395947">
                  <a:extLst>
                    <a:ext uri="{9D8B030D-6E8A-4147-A177-3AD203B41FA5}">
                      <a16:colId xmlns:a16="http://schemas.microsoft.com/office/drawing/2014/main" val="1913687174"/>
                    </a:ext>
                  </a:extLst>
                </a:gridCol>
                <a:gridCol w="422790">
                  <a:extLst>
                    <a:ext uri="{9D8B030D-6E8A-4147-A177-3AD203B41FA5}">
                      <a16:colId xmlns:a16="http://schemas.microsoft.com/office/drawing/2014/main" val="3934657325"/>
                    </a:ext>
                  </a:extLst>
                </a:gridCol>
                <a:gridCol w="429501">
                  <a:extLst>
                    <a:ext uri="{9D8B030D-6E8A-4147-A177-3AD203B41FA5}">
                      <a16:colId xmlns:a16="http://schemas.microsoft.com/office/drawing/2014/main" val="574590832"/>
                    </a:ext>
                  </a:extLst>
                </a:gridCol>
                <a:gridCol w="322126">
                  <a:extLst>
                    <a:ext uri="{9D8B030D-6E8A-4147-A177-3AD203B41FA5}">
                      <a16:colId xmlns:a16="http://schemas.microsoft.com/office/drawing/2014/main" val="3661564140"/>
                    </a:ext>
                  </a:extLst>
                </a:gridCol>
                <a:gridCol w="429501">
                  <a:extLst>
                    <a:ext uri="{9D8B030D-6E8A-4147-A177-3AD203B41FA5}">
                      <a16:colId xmlns:a16="http://schemas.microsoft.com/office/drawing/2014/main" val="4170025753"/>
                    </a:ext>
                  </a:extLst>
                </a:gridCol>
              </a:tblGrid>
              <a:tr h="21117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Guadeloupe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9777564"/>
                  </a:ext>
                </a:extLst>
              </a:tr>
              <a:tr h="21117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Guatemala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16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0971728"/>
                  </a:ext>
                </a:extLst>
              </a:tr>
              <a:tr h="21117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Honduras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5388071"/>
                  </a:ext>
                </a:extLst>
              </a:tr>
              <a:tr h="21117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Hong Kong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14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9090306"/>
                  </a:ext>
                </a:extLst>
              </a:tr>
              <a:tr h="21117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Hungary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7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8665718"/>
                  </a:ext>
                </a:extLst>
              </a:tr>
              <a:tr h="21117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India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12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49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840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18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14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7014807"/>
                  </a:ext>
                </a:extLst>
              </a:tr>
              <a:tr h="21117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Indonesia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60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231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22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5141271"/>
                  </a:ext>
                </a:extLst>
              </a:tr>
              <a:tr h="21117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Iran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4644362"/>
                  </a:ext>
                </a:extLst>
              </a:tr>
              <a:tr h="21117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Ireland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2265584"/>
                  </a:ext>
                </a:extLst>
              </a:tr>
              <a:tr h="21117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Israel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5509330"/>
                  </a:ext>
                </a:extLst>
              </a:tr>
              <a:tr h="21117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Italy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14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5110054"/>
                  </a:ext>
                </a:extLst>
              </a:tr>
              <a:tr h="21117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Japan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152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2231288"/>
                  </a:ext>
                </a:extLst>
              </a:tr>
              <a:tr h="21117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Kazakhstan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95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3854374"/>
                  </a:ext>
                </a:extLst>
              </a:tr>
              <a:tr h="21117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Kenya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374826"/>
                  </a:ext>
                </a:extLst>
              </a:tr>
              <a:tr h="21117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Kosovo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857584"/>
                  </a:ext>
                </a:extLst>
              </a:tr>
              <a:tr h="21117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Kyrgyzstan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4564742"/>
                  </a:ext>
                </a:extLst>
              </a:tr>
              <a:tr h="21117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Laos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9504468"/>
                  </a:ext>
                </a:extLst>
              </a:tr>
              <a:tr h="21117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Madagascar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4942849"/>
                  </a:ext>
                </a:extLst>
              </a:tr>
              <a:tr h="21117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Malawi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7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5243101"/>
                  </a:ext>
                </a:extLst>
              </a:tr>
              <a:tr h="21117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Malaysia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25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5437851"/>
                  </a:ext>
                </a:extLst>
              </a:tr>
              <a:tr h="21117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Mauritius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995197"/>
                  </a:ext>
                </a:extLst>
              </a:tr>
              <a:tr h="21117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Mexico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15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235969"/>
                  </a:ext>
                </a:extLst>
              </a:tr>
              <a:tr h="21117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Mongolia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11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3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413711"/>
                  </a:ext>
                </a:extLst>
              </a:tr>
              <a:tr h="21117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Montenegro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2360073"/>
                  </a:ext>
                </a:extLst>
              </a:tr>
              <a:tr h="21117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Morocco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14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818977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CFDE42F0-BF31-47A4-D88C-6783CC7DD2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0744237"/>
              </p:ext>
            </p:extLst>
          </p:nvPr>
        </p:nvGraphicFramePr>
        <p:xfrm>
          <a:off x="6245932" y="1069985"/>
          <a:ext cx="3110202" cy="525979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93232">
                  <a:extLst>
                    <a:ext uri="{9D8B030D-6E8A-4147-A177-3AD203B41FA5}">
                      <a16:colId xmlns:a16="http://schemas.microsoft.com/office/drawing/2014/main" val="139615076"/>
                    </a:ext>
                  </a:extLst>
                </a:gridCol>
                <a:gridCol w="334385">
                  <a:extLst>
                    <a:ext uri="{9D8B030D-6E8A-4147-A177-3AD203B41FA5}">
                      <a16:colId xmlns:a16="http://schemas.microsoft.com/office/drawing/2014/main" val="4075465368"/>
                    </a:ext>
                  </a:extLst>
                </a:gridCol>
                <a:gridCol w="469886">
                  <a:extLst>
                    <a:ext uri="{9D8B030D-6E8A-4147-A177-3AD203B41FA5}">
                      <a16:colId xmlns:a16="http://schemas.microsoft.com/office/drawing/2014/main" val="2009518311"/>
                    </a:ext>
                  </a:extLst>
                </a:gridCol>
                <a:gridCol w="477345">
                  <a:extLst>
                    <a:ext uri="{9D8B030D-6E8A-4147-A177-3AD203B41FA5}">
                      <a16:colId xmlns:a16="http://schemas.microsoft.com/office/drawing/2014/main" val="2681669571"/>
                    </a:ext>
                  </a:extLst>
                </a:gridCol>
                <a:gridCol w="358009">
                  <a:extLst>
                    <a:ext uri="{9D8B030D-6E8A-4147-A177-3AD203B41FA5}">
                      <a16:colId xmlns:a16="http://schemas.microsoft.com/office/drawing/2014/main" val="2236142493"/>
                    </a:ext>
                  </a:extLst>
                </a:gridCol>
                <a:gridCol w="477345">
                  <a:extLst>
                    <a:ext uri="{9D8B030D-6E8A-4147-A177-3AD203B41FA5}">
                      <a16:colId xmlns:a16="http://schemas.microsoft.com/office/drawing/2014/main" val="301576439"/>
                    </a:ext>
                  </a:extLst>
                </a:gridCol>
              </a:tblGrid>
              <a:tr h="19577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Mozambique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0199838"/>
                  </a:ext>
                </a:extLst>
              </a:tr>
              <a:tr h="19577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Myanmar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9923936"/>
                  </a:ext>
                </a:extLst>
              </a:tr>
              <a:tr h="19577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Namibia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3732798"/>
                  </a:ext>
                </a:extLst>
              </a:tr>
              <a:tr h="19577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Netherlands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9192161"/>
                  </a:ext>
                </a:extLst>
              </a:tr>
              <a:tr h="19577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New Zealand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4193770"/>
                  </a:ext>
                </a:extLst>
              </a:tr>
              <a:tr h="19577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Niger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965392"/>
                  </a:ext>
                </a:extLst>
              </a:tr>
              <a:tr h="19577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Nigeria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674230"/>
                  </a:ext>
                </a:extLst>
              </a:tr>
              <a:tr h="19577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North Korea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8635284"/>
                  </a:ext>
                </a:extLst>
              </a:tr>
              <a:tr h="38531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North Macedonia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7482466"/>
                  </a:ext>
                </a:extLst>
              </a:tr>
              <a:tr h="19577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Pakistan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5283540"/>
                  </a:ext>
                </a:extLst>
              </a:tr>
              <a:tr h="19577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Panama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0706432"/>
                  </a:ext>
                </a:extLst>
              </a:tr>
              <a:tr h="19577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Philippines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9563109"/>
                  </a:ext>
                </a:extLst>
              </a:tr>
              <a:tr h="19577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Poland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0304729"/>
                  </a:ext>
                </a:extLst>
              </a:tr>
              <a:tr h="19577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Romania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3540985"/>
                  </a:ext>
                </a:extLst>
              </a:tr>
              <a:tr h="19577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Russia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0479811"/>
                  </a:ext>
                </a:extLst>
              </a:tr>
              <a:tr h="19577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Senegal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925652"/>
                  </a:ext>
                </a:extLst>
              </a:tr>
              <a:tr h="19577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Serbia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6536703"/>
                  </a:ext>
                </a:extLst>
              </a:tr>
              <a:tr h="19577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Slovakia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561501"/>
                  </a:ext>
                </a:extLst>
              </a:tr>
              <a:tr h="19577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Slovenia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4544769"/>
                  </a:ext>
                </a:extLst>
              </a:tr>
              <a:tr h="19577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South Africa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986589"/>
                  </a:ext>
                </a:extLst>
              </a:tr>
              <a:tr h="19577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South Korea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2789123"/>
                  </a:ext>
                </a:extLst>
              </a:tr>
              <a:tr h="19577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Spain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7754710"/>
                  </a:ext>
                </a:extLst>
              </a:tr>
              <a:tr h="19577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Sri Lanka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002517"/>
                  </a:ext>
                </a:extLst>
              </a:tr>
              <a:tr h="19577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TÃƒÆ’Ã‚Â¼rkiye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861882"/>
                  </a:ext>
                </a:extLst>
              </a:tr>
              <a:tr h="19577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Taiwan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02" marR="6002" marT="600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88983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E6C06815-36D7-D512-302D-91B3A3B1A8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7941479"/>
              </p:ext>
            </p:extLst>
          </p:nvPr>
        </p:nvGraphicFramePr>
        <p:xfrm>
          <a:off x="9519449" y="1068511"/>
          <a:ext cx="2348700" cy="294868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28976">
                  <a:extLst>
                    <a:ext uri="{9D8B030D-6E8A-4147-A177-3AD203B41FA5}">
                      <a16:colId xmlns:a16="http://schemas.microsoft.com/office/drawing/2014/main" val="669404435"/>
                    </a:ext>
                  </a:extLst>
                </a:gridCol>
                <a:gridCol w="273587">
                  <a:extLst>
                    <a:ext uri="{9D8B030D-6E8A-4147-A177-3AD203B41FA5}">
                      <a16:colId xmlns:a16="http://schemas.microsoft.com/office/drawing/2014/main" val="2022894773"/>
                    </a:ext>
                  </a:extLst>
                </a:gridCol>
                <a:gridCol w="354839">
                  <a:extLst>
                    <a:ext uri="{9D8B030D-6E8A-4147-A177-3AD203B41FA5}">
                      <a16:colId xmlns:a16="http://schemas.microsoft.com/office/drawing/2014/main" val="4087449247"/>
                    </a:ext>
                  </a:extLst>
                </a:gridCol>
                <a:gridCol w="360472">
                  <a:extLst>
                    <a:ext uri="{9D8B030D-6E8A-4147-A177-3AD203B41FA5}">
                      <a16:colId xmlns:a16="http://schemas.microsoft.com/office/drawing/2014/main" val="2010047996"/>
                    </a:ext>
                  </a:extLst>
                </a:gridCol>
                <a:gridCol w="270354">
                  <a:extLst>
                    <a:ext uri="{9D8B030D-6E8A-4147-A177-3AD203B41FA5}">
                      <a16:colId xmlns:a16="http://schemas.microsoft.com/office/drawing/2014/main" val="3691597030"/>
                    </a:ext>
                  </a:extLst>
                </a:gridCol>
                <a:gridCol w="360472">
                  <a:extLst>
                    <a:ext uri="{9D8B030D-6E8A-4147-A177-3AD203B41FA5}">
                      <a16:colId xmlns:a16="http://schemas.microsoft.com/office/drawing/2014/main" val="3601842695"/>
                    </a:ext>
                  </a:extLst>
                </a:gridCol>
              </a:tblGrid>
              <a:tr h="28256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Tajikistan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462817"/>
                  </a:ext>
                </a:extLst>
              </a:tr>
              <a:tr h="26854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Tanzania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5125026"/>
                  </a:ext>
                </a:extLst>
              </a:tr>
              <a:tr h="26854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Thailand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21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4070912"/>
                  </a:ext>
                </a:extLst>
              </a:tr>
              <a:tr h="26854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Ukraine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56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5321250"/>
                  </a:ext>
                </a:extLst>
              </a:tr>
              <a:tr h="39316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United Kingdom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8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7979013"/>
                  </a:ext>
                </a:extLst>
              </a:tr>
              <a:tr h="39316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United States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441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4090886"/>
                  </a:ext>
                </a:extLst>
              </a:tr>
              <a:tr h="26854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Uzbekistan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12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2795154"/>
                  </a:ext>
                </a:extLst>
              </a:tr>
              <a:tr h="26854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Vietnam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10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73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6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1959895"/>
                  </a:ext>
                </a:extLst>
              </a:tr>
              <a:tr h="26854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Zambia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557515"/>
                  </a:ext>
                </a:extLst>
              </a:tr>
              <a:tr h="26854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Zimbabwe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8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5916395"/>
                  </a:ext>
                </a:extLst>
              </a:tr>
            </a:tbl>
          </a:graphicData>
        </a:graphic>
      </p:graphicFrame>
      <p:graphicFrame>
        <p:nvGraphicFramePr>
          <p:cNvPr id="2" name="Content Placeholder 6">
            <a:extLst>
              <a:ext uri="{FF2B5EF4-FFF2-40B4-BE49-F238E27FC236}">
                <a16:creationId xmlns:a16="http://schemas.microsoft.com/office/drawing/2014/main" id="{CD0CF891-0467-3378-6221-3F6AFB6988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13362966"/>
              </p:ext>
            </p:extLst>
          </p:nvPr>
        </p:nvGraphicFramePr>
        <p:xfrm>
          <a:off x="9582660" y="4499160"/>
          <a:ext cx="2398506" cy="2008068"/>
        </p:xfrm>
        <a:graphic>
          <a:graphicData uri="http://schemas.openxmlformats.org/drawingml/2006/table">
            <a:tbl>
              <a:tblPr/>
              <a:tblGrid>
                <a:gridCol w="965724">
                  <a:extLst>
                    <a:ext uri="{9D8B030D-6E8A-4147-A177-3AD203B41FA5}">
                      <a16:colId xmlns:a16="http://schemas.microsoft.com/office/drawing/2014/main" val="3614973548"/>
                    </a:ext>
                  </a:extLst>
                </a:gridCol>
                <a:gridCol w="1432782">
                  <a:extLst>
                    <a:ext uri="{9D8B030D-6E8A-4147-A177-3AD203B41FA5}">
                      <a16:colId xmlns:a16="http://schemas.microsoft.com/office/drawing/2014/main" val="1823679040"/>
                    </a:ext>
                  </a:extLst>
                </a:gridCol>
              </a:tblGrid>
              <a:tr h="318791"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Region</a:t>
                      </a:r>
                      <a:endParaRPr lang="en-US" sz="1400" b="1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" marR="19050" marT="190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Count of Coal Plants</a:t>
                      </a:r>
                      <a:endParaRPr lang="en-US" sz="1400" b="1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" marR="19050" marT="190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4832586"/>
                  </a:ext>
                </a:extLst>
              </a:tr>
              <a:tr h="287304"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Africa</a:t>
                      </a:r>
                      <a:endParaRPr lang="en-US" sz="14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" marR="19050" marT="190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199</a:t>
                      </a:r>
                      <a:endParaRPr lang="en-US" sz="1400" b="0" i="0" u="none" strike="noStrike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" marR="19050" marT="190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3000116"/>
                  </a:ext>
                </a:extLst>
              </a:tr>
              <a:tr h="311015"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Americas</a:t>
                      </a:r>
                      <a:endParaRPr lang="en-US" sz="14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" marR="19050" marT="190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562</a:t>
                      </a:r>
                      <a:endParaRPr lang="en-US" sz="14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" marR="19050" marT="190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5533008"/>
                  </a:ext>
                </a:extLst>
              </a:tr>
              <a:tr h="322230"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Asia</a:t>
                      </a:r>
                      <a:endParaRPr lang="en-US" sz="14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" marR="19050" marT="190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5867</a:t>
                      </a:r>
                      <a:endParaRPr lang="en-US" sz="1400" b="0" i="0" u="none" strike="noStrike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" marR="19050" marT="190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9917332"/>
                  </a:ext>
                </a:extLst>
              </a:tr>
              <a:tr h="318155"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Europe</a:t>
                      </a:r>
                      <a:endParaRPr lang="en-US" sz="1400" b="0" i="0" u="none" strike="noStrike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" marR="19050" marT="190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880</a:t>
                      </a:r>
                      <a:endParaRPr lang="en-US" sz="14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" marR="19050" marT="190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2166005"/>
                  </a:ext>
                </a:extLst>
              </a:tr>
              <a:tr h="323594"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Oceania</a:t>
                      </a:r>
                      <a:endParaRPr lang="en-US" sz="1400" b="0" i="0" u="none" strike="noStrike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" marR="19050" marT="190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</a:t>
                      </a:r>
                      <a:endParaRPr lang="en-US" sz="14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" marR="19050" marT="190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2870763"/>
                  </a:ext>
                </a:extLst>
              </a:tr>
            </a:tbl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2522881-A4EA-CC0B-7FA3-0A852C45448B}"/>
              </a:ext>
            </a:extLst>
          </p:cNvPr>
          <p:cNvCxnSpPr/>
          <p:nvPr/>
        </p:nvCxnSpPr>
        <p:spPr>
          <a:xfrm>
            <a:off x="9456239" y="4294598"/>
            <a:ext cx="0" cy="2212630"/>
          </a:xfrm>
          <a:prstGeom prst="line">
            <a:avLst/>
          </a:prstGeom>
          <a:ln w="28575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7364C68-3281-585C-579C-0E61EC81835F}"/>
              </a:ext>
            </a:extLst>
          </p:cNvPr>
          <p:cNvCxnSpPr>
            <a:cxnSpLocks/>
          </p:cNvCxnSpPr>
          <p:nvPr/>
        </p:nvCxnSpPr>
        <p:spPr>
          <a:xfrm>
            <a:off x="9456239" y="4315147"/>
            <a:ext cx="2524927" cy="0"/>
          </a:xfrm>
          <a:prstGeom prst="line">
            <a:avLst/>
          </a:prstGeom>
          <a:ln w="28575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72390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1816</Words>
  <Application>Microsoft Office PowerPoint</Application>
  <PresentationFormat>Widescreen</PresentationFormat>
  <Paragraphs>1664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Shamim, Akmal</dc:creator>
  <cp:lastModifiedBy>R, Revathy</cp:lastModifiedBy>
  <cp:revision>3</cp:revision>
  <dcterms:created xsi:type="dcterms:W3CDTF">2023-05-11T12:18:24Z</dcterms:created>
  <dcterms:modified xsi:type="dcterms:W3CDTF">2023-05-11T13:51:34Z</dcterms:modified>
</cp:coreProperties>
</file>